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15d6b771d4a8a" /><Relationship Type="http://schemas.openxmlformats.org/officeDocument/2006/relationships/extended-properties" Target="/docProps/app.xml" Id="R811c179710584fbe" /><Relationship Type="http://schemas.openxmlformats.org/officeDocument/2006/relationships/officeDocument" Target="/ppt/presentation.xml" Id="Rfeb6c2e497f548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f9ee1e568423f"/>
  </p:sldMasterIdLst>
  <p:notesMasterIdLst>
    <p:notesMasterId xmlns:r="http://schemas.openxmlformats.org/officeDocument/2006/relationships" r:id="R2388003c6e2b4bab"/>
  </p:notesMasterIdLst>
  <p:sldIdLst>
    <p:sldId xmlns:r="http://schemas.openxmlformats.org/officeDocument/2006/relationships" id="256" r:id="Ra39f1aab1e80434f"/>
    <p:sldId xmlns:r="http://schemas.openxmlformats.org/officeDocument/2006/relationships" id="257" r:id="R2bf3edf37fda4bf1"/>
    <p:sldId xmlns:r="http://schemas.openxmlformats.org/officeDocument/2006/relationships" id="258" r:id="R3f8421ae95744b11"/>
    <p:sldId xmlns:r="http://schemas.openxmlformats.org/officeDocument/2006/relationships" id="259" r:id="R6bf46502bbc747bd"/>
    <p:sldId xmlns:r="http://schemas.openxmlformats.org/officeDocument/2006/relationships" id="260" r:id="Rc8568a4e21b2459f"/>
    <p:sldId xmlns:r="http://schemas.openxmlformats.org/officeDocument/2006/relationships" id="261" r:id="R1c980db287104cc2"/>
    <p:sldId xmlns:r="http://schemas.openxmlformats.org/officeDocument/2006/relationships" id="262" r:id="R2154a7a54c3c4dfa"/>
    <p:sldId xmlns:r="http://schemas.openxmlformats.org/officeDocument/2006/relationships" id="263" r:id="R6dfb8c20fefd4562"/>
    <p:sldId xmlns:r="http://schemas.openxmlformats.org/officeDocument/2006/relationships" id="264" r:id="Rfb017b91c8ab4db8"/>
    <p:sldId xmlns:r="http://schemas.openxmlformats.org/officeDocument/2006/relationships" id="265" r:id="Rc83cd4fdf55b4e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709f8f4004ee8" /><Relationship Type="http://schemas.openxmlformats.org/officeDocument/2006/relationships/slideMaster" Target="/ppt/slideMasters/slideMaster1.xml" Id="R75df9ee1e568423f" /><Relationship Type="http://schemas.openxmlformats.org/officeDocument/2006/relationships/notesMaster" Target="/ppt/notesMasters/notesMaster1.xml" Id="R2388003c6e2b4bab" /><Relationship Type="http://schemas.openxmlformats.org/officeDocument/2006/relationships/presProps" Target="/ppt/presProps.xml" Id="R6b30068579034a9f" /><Relationship Type="http://schemas.openxmlformats.org/officeDocument/2006/relationships/tableStyles" Target="/ppt/tableStyles.xml" Id="R5dbb5c75391e4ecd" /><Relationship Type="http://schemas.openxmlformats.org/officeDocument/2006/relationships/slide" Target="/ppt/slides/slide1.xml" Id="Ra39f1aab1e80434f" /><Relationship Type="http://schemas.openxmlformats.org/officeDocument/2006/relationships/slide" Target="/ppt/slides/slide2.xml" Id="R2bf3edf37fda4bf1" /><Relationship Type="http://schemas.openxmlformats.org/officeDocument/2006/relationships/slide" Target="/ppt/slides/slide3.xml" Id="R3f8421ae95744b11" /><Relationship Type="http://schemas.openxmlformats.org/officeDocument/2006/relationships/slide" Target="/ppt/slides/slide4.xml" Id="R6bf46502bbc747bd" /><Relationship Type="http://schemas.openxmlformats.org/officeDocument/2006/relationships/slide" Target="/ppt/slides/slide5.xml" Id="Rc8568a4e21b2459f" /><Relationship Type="http://schemas.openxmlformats.org/officeDocument/2006/relationships/slide" Target="/ppt/slides/slide6.xml" Id="R1c980db287104cc2" /><Relationship Type="http://schemas.openxmlformats.org/officeDocument/2006/relationships/slide" Target="/ppt/slides/slide7.xml" Id="R2154a7a54c3c4dfa" /><Relationship Type="http://schemas.openxmlformats.org/officeDocument/2006/relationships/slide" Target="/ppt/slides/slide8.xml" Id="R6dfb8c20fefd4562" /><Relationship Type="http://schemas.openxmlformats.org/officeDocument/2006/relationships/slide" Target="/ppt/slides/slide9.xml" Id="Rfb017b91c8ab4db8" /><Relationship Type="http://schemas.openxmlformats.org/officeDocument/2006/relationships/slide" Target="/ppt/slides/slide10.xml" Id="Rc83cd4fdf55b4e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80643b23d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232f2f37d40a3" /><Relationship Type="http://schemas.openxmlformats.org/officeDocument/2006/relationships/notesMaster" Target="/ppt/notesMasters/notesMaster1.xml" Id="R8362fc85cb48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4e70d2ea3c4ae7" /><Relationship Type="http://schemas.openxmlformats.org/officeDocument/2006/relationships/notesMaster" Target="/ppt/notesMasters/notesMaster1.xml" Id="Rf331035dc4384c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a730068f04e98" /><Relationship Type="http://schemas.openxmlformats.org/officeDocument/2006/relationships/notesMaster" Target="/ppt/notesMasters/notesMaster1.xml" Id="Rf0be3d8ab585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87cec6f0d44bdf" /><Relationship Type="http://schemas.openxmlformats.org/officeDocument/2006/relationships/notesMaster" Target="/ppt/notesMasters/notesMaster1.xml" Id="R830ae406ae814e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11ee476ebd4012" /><Relationship Type="http://schemas.openxmlformats.org/officeDocument/2006/relationships/notesMaster" Target="/ppt/notesMasters/notesMaster1.xml" Id="Rd580300d854041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2a10587bac45de" /><Relationship Type="http://schemas.openxmlformats.org/officeDocument/2006/relationships/notesMaster" Target="/ppt/notesMasters/notesMaster1.xml" Id="Ra5d3803d97be44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190f186ef14e2e" /><Relationship Type="http://schemas.openxmlformats.org/officeDocument/2006/relationships/notesMaster" Target="/ppt/notesMasters/notesMaster1.xml" Id="R0e16d44f9efc41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e04aad2cd24bfc" /><Relationship Type="http://schemas.openxmlformats.org/officeDocument/2006/relationships/notesMaster" Target="/ppt/notesMasters/notesMaster1.xml" Id="R7033ace83d6445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88ed8d401f4e1c" /><Relationship Type="http://schemas.openxmlformats.org/officeDocument/2006/relationships/notesMaster" Target="/ppt/notesMasters/notesMaster1.xml" Id="R4ca26fa84f2d47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9c44f2a58543a4" /><Relationship Type="http://schemas.openxmlformats.org/officeDocument/2006/relationships/notesMaster" Target="/ppt/notesMasters/notesMaster1.xml" Id="Rb82d84fabbde45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synthetic example, not measured customer loss. Introduce Sahi GST as an invoice review prototype. Artwork is AI-generated editorial illustration, not a customer photo.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arithmetic illustration only. Tax-exclusive single-rate domestic goods scope; not ITC loss or rate advice. Open live synthetic demo after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hypothesis: buyer/bookkeeper receiving external supplier invoices. Not validated by interviews yet. Ask about recent events before showing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flow: images are pages of one invoice. Gemini cloud extraction and wording; Tesseract local OCR. Person confirms fields; deterministic rules calculate findings. Hindi/Telugu text and installed-voice speech availability vary. AI intermittently fails; use labelled sample/local OCR honestly.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Gemini/Tesseract and framework use. No trained foundation model claimed. Original team contribution is the workflow, versioned rules, ownership, uncertainty, storage and reports. No active GST registration lookup or ITC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OCR_IMAGE evaluation: 3 synthetic images, 19/20 labelled present fields and 2/2 unknowns preserved. Tiny internal sample, not customer-invoice accuracy. No CA review recorded. Supported single-rate domestic B2B goods only; excludes services/export/RCM/cess/multirate.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PROPOSED, not completed: 2 practising GST CAs, 3 bookkeepers, 20 held-out cases. Five clean, eight planted-error, four ambiguous captures and three out-of-scope. CAs label expected results independently; resolve disagreement. Measure detection, false flags, transcription and task time separately. Source: https://www.strategyzer.com/library/roadmap-to-test-your-value-proposition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unpaid terms allow improvement/human review and prohibit sensitive/confidential/personal information: https://ai.google.dev/gemini-api/terms . Consent alone does not override provider restrictions. Local OCR still sends text/confirmed fields to Django; optional images retained. Guest cleanup is triggered, not a hard deletion guarantee. DPDP rules phase in: https://www.meity.gov.in/static/uploads/2025/11/53450e6e5dc0bfa85ebd78686cadad39.pdf . Legal/security review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PIB reports 1.65 crore GST taxpayers as of May 2026: https://www.pib.gov.in/PressReleasePage.aspx?PRID=2279318 . Ecosystem context, NOT TAM, unique paying customers or demand evidence. Pilot channel via GST CAs is a hypothesis. Test repeat use and who pays; existing accounting workflows are alternatives. No revenue or savings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two GST practitioners and pilot participants. Do not imply partnerships exist. Presenting structure inspired by https://sequoiacap.com/article/writing-a-business-plan and https://www.ycombinator.com/blog/how-to-pitch-your-company/ ; original wording/design. Q&amp;A: no CA certification, no guaranteed ITC; privacy/availability gates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f3941bfee45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fc0382b414d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bc27944114d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eaf7ca51946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193eb253b42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af6a88ced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A8F437-F25A-4B6B-BBD2-7FAAA1FDF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9B46B1-036F-4669-90E2-9B50655D3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6CDA8E-370A-447D-BD8A-C785EF453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687D63-8C84-4CEB-9F17-E10A5131F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0C43C4-8570-40A6-B090-BD55B005F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9053A6-E79F-4DE7-992E-DED58BC7A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E91093-5FE5-4CD9-974A-1882D9C66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00009E-C5B4-4368-A77E-7B3E72F890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E2C3D6-B33E-47C8-ABDF-D192BE720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917F06-DED1-4428-A2E4-5908EEEB62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0dd5dc01f4062" /><Relationship Type="http://schemas.openxmlformats.org/officeDocument/2006/relationships/slideLayout" Target="/ppt/slideLayouts/slideLayout1.xml" Id="Rf7c2c96d47114a68" /><Relationship Type="http://schemas.openxmlformats.org/officeDocument/2006/relationships/slideLayout" Target="/ppt/slideLayouts/slideLayout2.xml" Id="R751e51167b784d55" /><Relationship Type="http://schemas.openxmlformats.org/officeDocument/2006/relationships/slideLayout" Target="/ppt/slideLayouts/slideLayout3.xml" Id="Rba582a402ff94e09" /><Relationship Type="http://schemas.openxmlformats.org/officeDocument/2006/relationships/slideLayout" Target="/ppt/slideLayouts/slideLayout4.xml" Id="Rbdd0e6e2a7794cca" /><Relationship Type="http://schemas.openxmlformats.org/officeDocument/2006/relationships/slideLayout" Target="/ppt/slideLayouts/slideLayout5.xml" Id="Rb75e3523a0e24568" /><Relationship Type="http://schemas.openxmlformats.org/officeDocument/2006/relationships/slideLayout" Target="/ppt/slideLayouts/slideLayout6.xml" Id="Rbf30d5801dbf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2c96d47114a68"/>
    <p:sldLayoutId xmlns:r="http://schemas.openxmlformats.org/officeDocument/2006/relationships" id="2147483650" r:id="R751e51167b784d55"/>
    <p:sldLayoutId xmlns:r="http://schemas.openxmlformats.org/officeDocument/2006/relationships" id="2147483651" r:id="Rba582a402ff94e09"/>
    <p:sldLayoutId xmlns:r="http://schemas.openxmlformats.org/officeDocument/2006/relationships" id="2147483652" r:id="Rbdd0e6e2a7794cca"/>
    <p:sldLayoutId xmlns:r="http://schemas.openxmlformats.org/officeDocument/2006/relationships" id="2147483653" r:id="Rb75e3523a0e24568"/>
    <p:sldLayoutId xmlns:r="http://schemas.openxmlformats.org/officeDocument/2006/relationships" id="2147483654" r:id="Rbf30d5801dbf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85226bfc94eb9" /><Relationship Type="http://schemas.openxmlformats.org/officeDocument/2006/relationships/image" Target="/ppt/media/image.png" Id="Raa7b7d59256045bf" /><Relationship Type="http://schemas.openxmlformats.org/officeDocument/2006/relationships/notesSlide" Target="/ppt/notesSlides/notesSlide1.xml" Id="Rd8a4692c624c4e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605f4a3684328" /><Relationship Type="http://schemas.openxmlformats.org/officeDocument/2006/relationships/notesSlide" Target="/ppt/notesSlides/notesSlide2.xml" Id="R834308daba6d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b38885df44ece" /><Relationship Type="http://schemas.openxmlformats.org/officeDocument/2006/relationships/notesSlide" Target="/ppt/notesSlides/notesSlide3.xml" Id="R57b5abf4a62547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7abf17a6540fe" /><Relationship Type="http://schemas.openxmlformats.org/officeDocument/2006/relationships/notesSlide" Target="/ppt/notesSlides/notesSlide4.xml" Id="R5ebc929c7597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33e3c46f34747" /><Relationship Type="http://schemas.openxmlformats.org/officeDocument/2006/relationships/notesSlide" Target="/ppt/notesSlides/notesSlide5.xml" Id="R602492dd002a40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28e71afc84d3b" /><Relationship Type="http://schemas.openxmlformats.org/officeDocument/2006/relationships/notesSlide" Target="/ppt/notesSlides/notesSlide6.xml" Id="Rf7526249364145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09b886aa447bb" /><Relationship Type="http://schemas.openxmlformats.org/officeDocument/2006/relationships/notesSlide" Target="/ppt/notesSlides/notesSlide7.xml" Id="Rd5b83b14025b4f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291363ea947f2" /><Relationship Type="http://schemas.openxmlformats.org/officeDocument/2006/relationships/notesSlide" Target="/ppt/notesSlides/notesSlide8.xml" Id="Refb436b31c374c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eae8d06484ccd" /><Relationship Type="http://schemas.openxmlformats.org/officeDocument/2006/relationships/notesSlide" Target="/ppt/notesSlides/notesSlide9.xml" Id="R255ef364472c45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d7aa9244e4785" /><Relationship Type="http://schemas.openxmlformats.org/officeDocument/2006/relationships/notesSlide" Target="/ppt/notesSlides/notesSlide10.xml" Id="Re6ad4dab67594c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536BF-02F9-4E5F-B99E-25F7CA25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Your invoice looks fine.</a:t>
            </a:r>
          </a:p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Your totals might disagree.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202D9-2A38-43BE-925F-839AD0FB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6775"/>
                </a:solidFill>
              </a:defRPr>
            </a:pPr>
            <a:r>
              <a:rPr sz="1125" b="0">
                <a:solidFill>
                  <a:srgbClr val="596775"/>
                </a:solidFill>
              </a:rPr>
              <a:t>SAHI GST  /  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04414-834F-4EB4-8E64-C52A9E9E0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b7d59256045b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39E4F-42A5-49F5-9D33-88D3AAE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2C40"/>
                </a:solidFill>
              </a:defRPr>
            </a:pPr>
            <a:r>
              <a:rPr sz="2250" b="1">
                <a:solidFill>
                  <a:srgbClr val="172C40"/>
                </a:solidFill>
              </a:rPr>
              <a:t>Sahi GST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0E5D6-076D-4E49-8060-9982E1D2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38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72C40"/>
                </a:solidFill>
              </a:defRPr>
            </a:pPr>
            <a:r>
              <a:rPr sz="4950" b="1">
                <a:solidFill>
                  <a:srgbClr val="172C40"/>
                </a:solidFill>
              </a:rPr>
              <a:t>Your invoice</a:t>
            </a:r>
          </a:p>
          <a:p xmlns:a="http://schemas.openxmlformats.org/drawingml/2006/main">
            <a:pPr>
              <a:defRPr sz="4950" b="1">
                <a:solidFill>
                  <a:srgbClr val="172C40"/>
                </a:solidFill>
              </a:defRPr>
            </a:pPr>
            <a:r>
              <a:rPr sz="4950" b="1">
                <a:solidFill>
                  <a:srgbClr val="172C40"/>
                </a:solidFill>
              </a:rPr>
              <a:t>looks fine.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4B7C9-BC39-41E0-AA85-CC1990C4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BB641A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BB641A"/>
                </a:solidFill>
              </a:defRPr>
            </a:pPr>
            <a:r>
              <a:rPr sz="2700" b="1">
                <a:solidFill>
                  <a:srgbClr val="BB641A"/>
                </a:solidFill>
              </a:rPr>
              <a:t>Your totals might disagree.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04F28-55AA-41C1-BC86-2E3674A6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0"/>
                </a:solidFill>
              </a:defRPr>
            </a:pPr>
            <a:r>
              <a:rPr sz="1875" b="0">
                <a:solidFill>
                  <a:srgbClr val="172C40"/>
                </a:solidFill>
              </a:rPr>
              <a:t>Invoice review. A clear next action.</a:t>
            </a:r>
          </a:p>
        </p:txBody>
      </p:sp>
    </p:spTree>
    <p:extLst>
      <p:ext uri="{BB962C8B-B14F-4D97-AF65-F5344CB8AC3E}">
        <p14:creationId xmlns:p14="http://schemas.microsoft.com/office/powerpoint/2010/main" val="1994197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AC9B7-C19C-4C26-ADF4-5372B374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One mismatch. A clearer next action.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0EF77-70D6-4A1C-B39E-2D67E02C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6775"/>
                </a:solidFill>
              </a:defRPr>
            </a:pPr>
            <a:r>
              <a:rPr sz="1125" b="0">
                <a:solidFill>
                  <a:srgbClr val="596775"/>
                </a:solidFill>
              </a:rPr>
              <a:t>SAHI GST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FBD93-B133-47DA-B7C3-BC0FD7C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72C40"/>
                </a:solidFill>
              </a:defRPr>
            </a:pPr>
            <a:r>
              <a:rPr sz="4050" b="1">
                <a:solidFill>
                  <a:srgbClr val="172C40"/>
                </a:solidFill>
              </a:rPr>
              <a:t>₹10,000 + ₹900 + ₹900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499FC-43E2-47AE-A933-1A8F7E1D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775"/>
                </a:solidFill>
              </a:defRPr>
            </a:pPr>
            <a:r>
              <a:rPr sz="1800" b="0">
                <a:solidFill>
                  <a:srgbClr val="596775"/>
                </a:solidFill>
              </a:rPr>
              <a:t>Taxable value + CGST + SGST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78AB9-3F5B-44A4-8612-6A5CD1B8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2C40"/>
                </a:solidFill>
              </a:defRPr>
            </a:pPr>
            <a:r>
              <a:rPr sz="3000" b="0">
                <a:solidFill>
                  <a:srgbClr val="172C40"/>
                </a:solidFill>
              </a:rPr>
              <a:t>₹11,800</a:t>
            </a:r>
          </a:p>
          <a:p xmlns:a="http://schemas.openxmlformats.org/drawingml/2006/main">
            <a:pPr>
              <a:defRPr sz="3000" b="0">
                <a:solidFill>
                  <a:srgbClr val="172C40"/>
                </a:solidFill>
              </a:defRPr>
            </a:pPr>
            <a:r>
              <a:rPr sz="3000" b="0">
                <a:solidFill>
                  <a:srgbClr val="172C40"/>
                </a:solidFill>
              </a:rPr>
              <a:t>Expected total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1D7B5-02F2-4584-83A5-74E39102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2C40"/>
                </a:solidFill>
              </a:defRPr>
            </a:pPr>
            <a:r>
              <a:rPr sz="3000" b="0">
                <a:solidFill>
                  <a:srgbClr val="172C40"/>
                </a:solidFill>
              </a:rPr>
              <a:t>₹12,800</a:t>
            </a:r>
          </a:p>
          <a:p xmlns:a="http://schemas.openxmlformats.org/drawingml/2006/main">
            <a:pPr>
              <a:defRPr sz="3000" b="0">
                <a:solidFill>
                  <a:srgbClr val="172C40"/>
                </a:solidFill>
              </a:defRPr>
            </a:pPr>
            <a:r>
              <a:rPr sz="3000" b="0">
                <a:solidFill>
                  <a:srgbClr val="172C40"/>
                </a:solidFill>
              </a:rPr>
              <a:t>Printed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07D61-696F-4E61-9F09-52A9D371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42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BB641A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BB641A"/>
                </a:solidFill>
              </a:defRPr>
            </a:pPr>
            <a:r>
              <a:rPr sz="3600" b="1">
                <a:solidFill>
                  <a:srgbClr val="BB641A"/>
                </a:solidFill>
              </a:rPr>
              <a:t>₹1,000</a:t>
            </a:r>
          </a:p>
          <a:p xmlns:a="http://schemas.openxmlformats.org/drawingml/2006/main">
            <a:pPr>
              <a:defRPr sz="3600" b="1">
                <a:solidFill>
                  <a:srgbClr val="BB641A"/>
                </a:solidFill>
              </a:defRPr>
            </a:pPr>
            <a:r>
              <a:rPr sz="3600" b="1">
                <a:solidFill>
                  <a:srgbClr val="BB641A"/>
                </a:solidFill>
              </a:rPr>
              <a:t>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83773-6D8B-4B57-817E-7E84DE8C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775"/>
                </a:solidFill>
              </a:defRPr>
            </a:pPr>
            <a:r>
              <a:rPr sz="1500" b="0">
                <a:solidFill>
                  <a:srgbClr val="596775"/>
                </a:solidFill>
              </a:rPr>
              <a:t>Synthetic example • discrepancy, not tax saved</a:t>
            </a:r>
          </a:p>
        </p:txBody>
      </p:sp>
    </p:spTree>
    <p:extLst>
      <p:ext uri="{BB962C8B-B14F-4D97-AF65-F5344CB8AC3E}">
        <p14:creationId xmlns:p14="http://schemas.microsoft.com/office/powerpoint/2010/main" val="6454895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58063-2201-4E53-A5D5-14CFFD82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A focused first user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E75CA-5B80-48C7-8CC0-39BDC926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6775"/>
                </a:solidFill>
              </a:defRPr>
            </a:pPr>
            <a:r>
              <a:rPr sz="1125" b="0">
                <a:solidFill>
                  <a:srgbClr val="596775"/>
                </a:solidFill>
              </a:rPr>
              <a:t>SAHI GST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DA7B0-52E2-479B-8A9B-31B51782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C40"/>
                </a:solidFill>
              </a:defRPr>
            </a:pPr>
            <a:r>
              <a:rPr sz="3600" b="1">
                <a:solidFill>
                  <a:srgbClr val="172C40"/>
                </a:solidFill>
              </a:rPr>
              <a:t>The buyer or bookkeeper</a:t>
            </a:r>
          </a:p>
          <a:p xmlns:a="http://schemas.openxmlformats.org/drawingml/2006/main">
            <a:pPr>
              <a:defRPr sz="3600" b="1">
                <a:solidFill>
                  <a:srgbClr val="172C40"/>
                </a:solidFill>
              </a:defRPr>
            </a:pPr>
            <a:r>
              <a:rPr sz="3600" b="1">
                <a:solidFill>
                  <a:srgbClr val="172C40"/>
                </a:solidFill>
              </a:rPr>
              <a:t>chasing a supplier correction.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6B5EB-D7DD-447A-9FA7-9A3444C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C40"/>
                </a:solidFill>
              </a:defRPr>
            </a:pPr>
            <a:r>
              <a:rPr sz="2175" b="0">
                <a:solidFill>
                  <a:srgbClr val="172C40"/>
                </a:solidFill>
              </a:rPr>
              <a:t>Receive an invoice. Check the details.</a:t>
            </a:r>
          </a:p>
          <a:p xmlns:a="http://schemas.openxmlformats.org/drawingml/2006/main">
            <a:pPr>
              <a:defRPr sz="2175" b="0">
                <a:solidFill>
                  <a:srgbClr val="172C40"/>
                </a:solidFill>
              </a:defRPr>
            </a:pPr>
            <a:r>
              <a:rPr sz="2175" b="0">
                <a:solidFill>
                  <a:srgbClr val="172C40"/>
                </a:solidFill>
              </a:rPr>
              <a:t>Explain the mismatch. Request the corrected document.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539B1-0A55-4479-B551-37A9084D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B641A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B641A"/>
                </a:solidFill>
              </a:defRPr>
            </a:pPr>
            <a:r>
              <a:rPr sz="1650" b="0">
                <a:solidFill>
                  <a:srgbClr val="BB641A"/>
                </a:solidFill>
              </a:rPr>
              <a:t>Research gap: frequency, time spent and willingness to adopt.</a:t>
            </a:r>
          </a:p>
        </p:txBody>
      </p:sp>
    </p:spTree>
    <p:extLst>
      <p:ext uri="{BB962C8B-B14F-4D97-AF65-F5344CB8AC3E}">
        <p14:creationId xmlns:p14="http://schemas.microsoft.com/office/powerpoint/2010/main" val="143703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41DBC-0A3C-4825-807E-5220711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7F3EB"/>
                </a:solidFill>
              </a:defRPr>
            </a:pPr>
            <a:r>
              <a:rPr sz="3450" b="1">
                <a:solidFill>
                  <a:srgbClr val="F7F3EB"/>
                </a:solidFill>
              </a:rPr>
              <a:t>Read. Confirm. Check. Act.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3090C-985C-4212-9F0A-2947B7A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7C5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7C5D0"/>
                </a:solidFill>
              </a:defRPr>
            </a:pPr>
            <a:r>
              <a:rPr sz="1125" b="0">
                <a:solidFill>
                  <a:srgbClr val="B7C5D0"/>
                </a:solidFill>
              </a:rPr>
              <a:t>SAHI GST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C9028-DCD5-4963-BAF0-D58EADF6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7F3EB"/>
                </a:solidFill>
              </a:defRPr>
            </a:pPr>
            <a:r>
              <a:rPr sz="2475" b="1">
                <a:solidFill>
                  <a:srgbClr val="F7F3EB"/>
                </a:solidFill>
              </a:rPr>
              <a:t>01  Read the invoice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1F053-B456-48C2-89C6-1F08A97B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7F3EB"/>
                </a:solidFill>
              </a:defRPr>
            </a:pPr>
            <a:r>
              <a:rPr sz="2475" b="1">
                <a:solidFill>
                  <a:srgbClr val="F7F3EB"/>
                </a:solidFill>
              </a:rPr>
              <a:t>02  Confirm uncertain details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6CDA0-099D-4AEF-9E01-93126EDA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7F3EB"/>
                </a:solidFill>
              </a:defRPr>
            </a:pPr>
            <a:r>
              <a:rPr sz="2475" b="1">
                <a:solidFill>
                  <a:srgbClr val="F7F3EB"/>
                </a:solidFill>
              </a:rPr>
              <a:t>03  Inspect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6F348-D3F9-4DD9-9F03-1AE81F13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7F3EB"/>
                </a:solidFill>
              </a:defRPr>
            </a:pPr>
            <a:r>
              <a:rPr sz="2475" b="1">
                <a:solidFill>
                  <a:srgbClr val="F7F3EB"/>
                </a:solidFill>
              </a:rPr>
              <a:t>04  Request a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B8DB2-C2CF-41D2-B13F-72CFB7A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7E1EA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7E1EA"/>
                </a:solidFill>
              </a:defRPr>
            </a:pPr>
            <a:r>
              <a:rPr sz="2025" b="0">
                <a:solidFill>
                  <a:srgbClr val="D7E1EA"/>
                </a:solidFill>
              </a:rPr>
              <a:t>Hindi / Telugu explanations • supplier draft • PDF record</a:t>
            </a:r>
          </a:p>
        </p:txBody>
      </p:sp>
    </p:spTree>
    <p:extLst>
      <p:ext uri="{BB962C8B-B14F-4D97-AF65-F5344CB8AC3E}">
        <p14:creationId xmlns:p14="http://schemas.microsoft.com/office/powerpoint/2010/main" val="263283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96D64-74BA-4F58-9FBF-15A5E73C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AI reads. Our rules check.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678CE-0DD3-4464-975E-782333A1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6775"/>
                </a:solidFill>
              </a:defRPr>
            </a:pPr>
            <a:r>
              <a:rPr sz="1125" b="0">
                <a:solidFill>
                  <a:srgbClr val="596775"/>
                </a:solidFill>
              </a:rPr>
              <a:t>SAHI GST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02870-1925-487E-8498-D4A21D5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B641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BB641A"/>
                </a:solidFill>
              </a:defRPr>
            </a:pPr>
            <a:r>
              <a:rPr sz="2850" b="1">
                <a:solidFill>
                  <a:srgbClr val="BB641A"/>
                </a:solidFill>
              </a:rPr>
              <a:t>AI proposes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131F6-0EF5-4A20-B31D-43E04BCF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C40"/>
                </a:solidFill>
              </a:defRPr>
            </a:pPr>
            <a:r>
              <a:rPr sz="2175" b="0">
                <a:solidFill>
                  <a:srgbClr val="172C40"/>
                </a:solidFill>
              </a:rPr>
              <a:t>Fields and plain-language wording.</a:t>
            </a:r>
          </a:p>
          <a:p xmlns:a="http://schemas.openxmlformats.org/drawingml/2006/main">
            <a:pPr>
              <a:defRPr sz="2175" b="0">
                <a:solidFill>
                  <a:srgbClr val="172C40"/>
                </a:solidFill>
              </a:defRPr>
            </a:pPr>
            <a:r>
              <a:rPr sz="2175" b="0">
                <a:solidFill>
                  <a:srgbClr val="172C40"/>
                </a:solidFill>
              </a:rPr>
              <a:t>Unknowns remain reviewable.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572BC-6819-4B5A-B2C0-8DC6F74F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C40"/>
                </a:solidFill>
              </a:defRPr>
            </a:pPr>
            <a:r>
              <a:rPr sz="2850" b="1">
                <a:solidFill>
                  <a:srgbClr val="172C40"/>
                </a:solidFill>
              </a:rPr>
              <a:t>The application verifies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619C4-37A6-439A-846A-A32C3E1B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C40"/>
                </a:solidFill>
              </a:defRPr>
            </a:pPr>
            <a:r>
              <a:rPr sz="2175" b="0">
                <a:solidFill>
                  <a:srgbClr val="172C40"/>
                </a:solidFill>
              </a:rPr>
              <a:t>Confirmed-field arithmetic and presence.</a:t>
            </a:r>
          </a:p>
          <a:p xmlns:a="http://schemas.openxmlformats.org/drawingml/2006/main">
            <a:pPr>
              <a:defRPr sz="2175" b="0">
                <a:solidFill>
                  <a:srgbClr val="172C40"/>
                </a:solidFill>
              </a:defRPr>
            </a:pPr>
            <a:r>
              <a:rPr sz="2175" b="0">
                <a:solidFill>
                  <a:srgbClr val="172C40"/>
                </a:solidFill>
              </a:rPr>
              <a:t>Versioned findings, private history</a:t>
            </a:r>
          </a:p>
          <a:p xmlns:a="http://schemas.openxmlformats.org/drawingml/2006/main">
            <a:pPr>
              <a:defRPr sz="2175" b="0">
                <a:solidFill>
                  <a:srgbClr val="172C40"/>
                </a:solidFill>
              </a:defRPr>
            </a:pPr>
            <a:r>
              <a:rPr sz="2175" b="0">
                <a:solidFill>
                  <a:srgbClr val="172C40"/>
                </a:solidFill>
              </a:rPr>
              <a:t>and correction requests.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FE78D-93FF-4D1E-B4F6-A65F3020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775"/>
                </a:solidFill>
              </a:defRPr>
            </a:pPr>
            <a:r>
              <a:rPr sz="1650" b="0">
                <a:solidFill>
                  <a:srgbClr val="596775"/>
                </a:solidFill>
              </a:rPr>
              <a:t>Gemini + Tesseract disclosed. No model-training claim.</a:t>
            </a:r>
          </a:p>
        </p:txBody>
      </p:sp>
    </p:spTree>
    <p:extLst>
      <p:ext uri="{BB962C8B-B14F-4D97-AF65-F5344CB8AC3E}">
        <p14:creationId xmlns:p14="http://schemas.microsoft.com/office/powerpoint/2010/main" val="1103609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34627-45E0-4D38-873D-54493C47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Working prototype ≠ validated tax advice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2F7B5-70EA-4E28-B845-CC171939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6775"/>
                </a:solidFill>
              </a:defRPr>
            </a:pPr>
            <a:r>
              <a:rPr sz="1125" b="0">
                <a:solidFill>
                  <a:srgbClr val="596775"/>
                </a:solidFill>
              </a:rPr>
              <a:t>SAHI GST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A1DF4-981C-4C5F-BEC0-F544CD11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BB641A"/>
                </a:solidFill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BB641A"/>
                </a:solidFill>
              </a:defRPr>
            </a:pPr>
            <a:r>
              <a:rPr sz="5700" b="1">
                <a:solidFill>
                  <a:srgbClr val="BB641A"/>
                </a:solidFill>
              </a:rPr>
              <a:t>19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22C0F-EB61-472B-AD81-AFEEEFED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C40"/>
                </a:solidFill>
              </a:defRPr>
            </a:pPr>
            <a:r>
              <a:rPr sz="2100" b="0">
                <a:solidFill>
                  <a:srgbClr val="172C40"/>
                </a:solidFill>
              </a:rPr>
              <a:t>labelled fields correct</a:t>
            </a:r>
          </a:p>
          <a:p xmlns:a="http://schemas.openxmlformats.org/drawingml/2006/main">
            <a:pPr>
              <a:defRPr sz="2100" b="0">
                <a:solidFill>
                  <a:srgbClr val="172C40"/>
                </a:solidFill>
              </a:defRPr>
            </a:pPr>
            <a:r>
              <a:rPr sz="2100" b="0">
                <a:solidFill>
                  <a:srgbClr val="172C40"/>
                </a:solidFill>
              </a:rPr>
              <a:t>on 3 synthetic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086D4-7010-4B31-ADD3-CFD0F67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C40"/>
                </a:solidFill>
              </a:defRPr>
            </a:pPr>
            <a:r>
              <a:rPr sz="2550" b="1">
                <a:solidFill>
                  <a:srgbClr val="172C40"/>
                </a:solidFill>
              </a:rPr>
              <a:t>Still to establish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51374-A39D-4EE7-8674-22530AF8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C40"/>
                </a:solidFill>
              </a:defRPr>
            </a:pPr>
            <a:r>
              <a:rPr sz="2100" b="0">
                <a:solidFill>
                  <a:srgbClr val="172C40"/>
                </a:solidFill>
              </a:rPr>
              <a:t>CA review of scope and rules</a:t>
            </a:r>
          </a:p>
          <a:p xmlns:a="http://schemas.openxmlformats.org/drawingml/2006/main">
            <a:pPr>
              <a:defRPr sz="2100" b="0">
                <a:solidFill>
                  <a:srgbClr val="172C40"/>
                </a:solidFill>
              </a:defRPr>
            </a:pPr>
            <a:r>
              <a:rPr sz="2100" b="0">
                <a:solidFill>
                  <a:srgbClr val="172C40"/>
                </a:solidFill>
              </a:rPr>
              <a:t>Held-out invoice performance</a:t>
            </a:r>
          </a:p>
          <a:p xmlns:a="http://schemas.openxmlformats.org/drawingml/2006/main">
            <a:pPr>
              <a:defRPr sz="2100" b="0">
                <a:solidFill>
                  <a:srgbClr val="172C40"/>
                </a:solidFill>
              </a:defRPr>
            </a:pPr>
            <a:r>
              <a:rPr sz="2100" b="0">
                <a:solidFill>
                  <a:srgbClr val="172C40"/>
                </a:solidFill>
              </a:rPr>
              <a:t>Reliable cloud and phone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C698E-EA5F-4013-9B61-D63E657C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775"/>
                </a:solidFill>
              </a:defRPr>
            </a:pPr>
            <a:r>
              <a:rPr sz="1725" b="0">
                <a:solidFill>
                  <a:srgbClr val="596775"/>
                </a:solidFill>
              </a:rPr>
              <a:t>Single-rate domestic B2B goods only. No compliance or ITC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553000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3C192-0112-4C3D-9477-9AE4094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Professional validation: the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FA2FE-1AC3-46CF-A2CF-7C853271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6775"/>
                </a:solidFill>
              </a:defRPr>
            </a:pPr>
            <a:r>
              <a:rPr sz="1125" b="0">
                <a:solidFill>
                  <a:srgbClr val="596775"/>
                </a:solidFill>
              </a:rPr>
              <a:t>SAHI GST  /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7E260-BDE3-44E0-B22A-C949129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BB641A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B641A"/>
                </a:solidFill>
              </a:defRPr>
            </a:pPr>
            <a:r>
              <a:rPr sz="3225" b="1">
                <a:solidFill>
                  <a:srgbClr val="BB641A"/>
                </a:solidFill>
              </a:rPr>
              <a:t>2 CAs   /   3 bookkeepers   /   20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6E2B7-4C93-461A-8115-44A9558F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C40"/>
                </a:solidFill>
              </a:defRPr>
            </a:pPr>
            <a:r>
              <a:rPr sz="2325" b="0">
                <a:solidFill>
                  <a:srgbClr val="172C40"/>
                </a:solidFill>
              </a:rPr>
              <a:t>Interview recent correction episodes.</a:t>
            </a:r>
          </a:p>
          <a:p xmlns:a="http://schemas.openxmlformats.org/drawingml/2006/main">
            <a:pPr>
              <a:defRPr sz="2325" b="0">
                <a:solidFill>
                  <a:srgbClr val="172C40"/>
                </a:solidFill>
              </a:defRPr>
            </a:pPr>
            <a:r>
              <a:rPr sz="2325" b="0">
                <a:solidFill>
                  <a:srgbClr val="172C40"/>
                </a:solidFill>
              </a:rPr>
              <a:t>Agree expected findings before testing.</a:t>
            </a:r>
          </a:p>
          <a:p xmlns:a="http://schemas.openxmlformats.org/drawingml/2006/main">
            <a:pPr>
              <a:defRPr sz="2325" b="0">
                <a:solidFill>
                  <a:srgbClr val="172C40"/>
                </a:solidFill>
              </a:defRPr>
            </a:pPr>
            <a:r>
              <a:rPr sz="2325" b="0">
                <a:solidFill>
                  <a:srgbClr val="172C40"/>
                </a:solidFill>
              </a:rPr>
              <a:t>Measure missed errors, false flags and time to draft.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F6D5-C6F9-407F-AA29-0085A01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775"/>
                </a:solidFill>
              </a:defRPr>
            </a:pPr>
            <a:r>
              <a:rPr sz="1725" b="0">
                <a:solidFill>
                  <a:srgbClr val="596775"/>
                </a:solidFill>
              </a:rPr>
              <a:t>Proposed pilot. No interviews or endorsements claimed.</a:t>
            </a:r>
          </a:p>
        </p:txBody>
      </p:sp>
    </p:spTree>
    <p:extLst>
      <p:ext uri="{BB962C8B-B14F-4D97-AF65-F5344CB8AC3E}">
        <p14:creationId xmlns:p14="http://schemas.microsoft.com/office/powerpoint/2010/main" val="289654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F49CF-3165-4D8C-AFE2-86EDD5FD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7F3EB"/>
                </a:solidFill>
              </a:defRPr>
            </a:pPr>
            <a:r>
              <a:rPr sz="3450" b="1">
                <a:solidFill>
                  <a:srgbClr val="F7F3EB"/>
                </a:solidFill>
              </a:rPr>
              <a:t>Privacy is a release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ABB30-3C1C-4F6D-B027-03453C5C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7C5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7C5D0"/>
                </a:solidFill>
              </a:defRPr>
            </a:pPr>
            <a:r>
              <a:rPr sz="1125" b="0">
                <a:solidFill>
                  <a:srgbClr val="B7C5D0"/>
                </a:solidFill>
              </a:rPr>
              <a:t>SAHI GST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EAB93-1575-4D54-B4B1-AEB67D32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7F3EB"/>
                </a:solidFill>
              </a:defRPr>
            </a:pPr>
            <a:r>
              <a:rPr sz="3675" b="1">
                <a:solidFill>
                  <a:srgbClr val="F7F3EB"/>
                </a:solidFill>
              </a:rPr>
              <a:t>Synthetic invoices only</a:t>
            </a:r>
          </a:p>
          <a:p xmlns:a="http://schemas.openxmlformats.org/drawingml/2006/main">
            <a:pPr>
              <a:defRPr sz="3675" b="1">
                <a:solidFill>
                  <a:srgbClr val="F7F3EB"/>
                </a:solidFill>
              </a:defRPr>
            </a:pPr>
            <a:r>
              <a:rPr sz="3675" b="1">
                <a:solidFill>
                  <a:srgbClr val="F7F3EB"/>
                </a:solidFill>
              </a:rPr>
              <a:t>for the unpaid cloud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776D2-4567-4539-8A67-577354D3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7E1EA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7E1EA"/>
                </a:solidFill>
              </a:defRPr>
            </a:pPr>
            <a:r>
              <a:rPr sz="2175" b="0">
                <a:solidFill>
                  <a:srgbClr val="D7E1EA"/>
                </a:solidFill>
              </a:rPr>
              <a:t>Local OCR ≠ no data leaves the device.</a:t>
            </a:r>
          </a:p>
          <a:p xmlns:a="http://schemas.openxmlformats.org/drawingml/2006/main">
            <a:pPr>
              <a:defRPr sz="2175" b="0">
                <a:solidFill>
                  <a:srgbClr val="D7E1EA"/>
                </a:solidFill>
              </a:defRPr>
            </a:pPr>
            <a:r>
              <a:rPr sz="2175" b="0">
                <a:solidFill>
                  <a:srgbClr val="D7E1EA"/>
                </a:solidFill>
              </a:rPr>
              <a:t>Before client use: permitted processing, retention,</a:t>
            </a:r>
          </a:p>
          <a:p xmlns:a="http://schemas.openxmlformats.org/drawingml/2006/main">
            <a:pPr>
              <a:defRPr sz="2175" b="0">
                <a:solidFill>
                  <a:srgbClr val="D7E1EA"/>
                </a:solidFill>
              </a:defRPr>
            </a:pPr>
            <a:r>
              <a:rPr sz="2175" b="0">
                <a:solidFill>
                  <a:srgbClr val="D7E1EA"/>
                </a:solidFill>
              </a:rPr>
              <a:t>deletion, security and professional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B7E87-447E-4743-BF97-8CDF3D5A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7C5D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0"/>
                </a:solidFill>
              </a:defRPr>
            </a:pPr>
            <a:r>
              <a:rPr sz="1350" b="0">
                <a:solidFill>
                  <a:srgbClr val="B7C5D0"/>
                </a:solidFill>
              </a:rPr>
              <a:t>Source: Google Gemini API terms; MeitY DPDP Rules (phased commencement)</a:t>
            </a:r>
          </a:p>
        </p:txBody>
      </p:sp>
    </p:spTree>
    <p:extLst>
      <p:ext uri="{BB962C8B-B14F-4D97-AF65-F5344CB8AC3E}">
        <p14:creationId xmlns:p14="http://schemas.microsoft.com/office/powerpoint/2010/main" val="1484501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3EF0D-A0CC-485E-A324-F8F17918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C40"/>
                </a:solidFill>
              </a:defRPr>
            </a:pPr>
            <a:r>
              <a:rPr sz="3450" b="1">
                <a:solidFill>
                  <a:srgbClr val="172C40"/>
                </a:solidFill>
              </a:rPr>
              <a:t>Large ecosystem. Narrow entry point.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64E60-74E7-47BB-8357-B46431EC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6775"/>
                </a:solidFill>
              </a:defRPr>
            </a:pPr>
            <a:r>
              <a:rPr sz="1125" b="0">
                <a:solidFill>
                  <a:srgbClr val="596775"/>
                </a:solidFill>
              </a:rPr>
              <a:t>SAHI GST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96116-4A6D-423E-80AE-A3A2CC52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BB641A"/>
                </a:solidFill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BB641A"/>
                </a:solidFill>
              </a:defRPr>
            </a:pPr>
            <a:r>
              <a:rPr sz="5700" b="1">
                <a:solidFill>
                  <a:srgbClr val="BB641A"/>
                </a:solidFill>
              </a:rPr>
              <a:t>1.65 crore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51B9B-E899-4B70-942E-12727EC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0"/>
                </a:solidFill>
              </a:defRPr>
            </a:pPr>
            <a:r>
              <a:rPr sz="1950" b="0">
                <a:solidFill>
                  <a:srgbClr val="172C40"/>
                </a:solidFill>
              </a:rPr>
              <a:t>GST taxpayers • May 2026</a:t>
            </a:r>
          </a:p>
          <a:p xmlns:a="http://schemas.openxmlformats.org/drawingml/2006/main">
            <a:pPr>
              <a:defRPr sz="1950" b="0">
                <a:solidFill>
                  <a:srgbClr val="172C40"/>
                </a:solidFill>
              </a:defRPr>
            </a:pPr>
            <a:r>
              <a:rPr sz="1950" b="0">
                <a:solidFill>
                  <a:srgbClr val="172C40"/>
                </a:solidFill>
              </a:rPr>
              <a:t>PIB ecosystem context, not our 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4A00C-DA58-42B6-8717-52F43ACE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71700"/>
            <a:ext cx="4524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2C40"/>
                </a:solidFill>
              </a:defRPr>
            </a:pPr>
            <a:r>
              <a:rPr sz="2625" b="1">
                <a:solidFill>
                  <a:srgbClr val="172C40"/>
                </a:solidFill>
              </a:rPr>
              <a:t>Start with a supervised</a:t>
            </a:r>
          </a:p>
          <a:p xmlns:a="http://schemas.openxmlformats.org/drawingml/2006/main">
            <a:pPr>
              <a:defRPr sz="2625" b="1">
                <a:solidFill>
                  <a:srgbClr val="172C40"/>
                </a:solidFill>
              </a:defRPr>
            </a:pPr>
            <a:r>
              <a:rPr sz="2625" b="1">
                <a:solidFill>
                  <a:srgbClr val="172C40"/>
                </a:solidFill>
              </a:rPr>
              <a:t>buyer/bookkeeper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6B906-497D-4DC1-B4DE-E6F6410D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8622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0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C40"/>
                </a:solidFill>
              </a:defRPr>
            </a:pPr>
            <a:r>
              <a:rPr sz="2100" b="0">
                <a:solidFill>
                  <a:srgbClr val="172C40"/>
                </a:solidFill>
              </a:rPr>
              <a:t>Prove repeat use.</a:t>
            </a:r>
          </a:p>
          <a:p xmlns:a="http://schemas.openxmlformats.org/drawingml/2006/main">
            <a:pPr>
              <a:defRPr sz="2100" b="0">
                <a:solidFill>
                  <a:srgbClr val="172C40"/>
                </a:solidFill>
              </a:defRPr>
            </a:pPr>
            <a:r>
              <a:rPr sz="2100" b="0">
                <a:solidFill>
                  <a:srgbClr val="172C40"/>
                </a:solidFill>
              </a:rPr>
              <a:t>Then test willingness to pay.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B7A04-8920-44B0-9E2C-04C5BCD0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7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775"/>
                </a:solidFill>
              </a:defRPr>
            </a:pPr>
            <a:r>
              <a:rPr sz="1500" b="0">
                <a:solidFill>
                  <a:srgbClr val="596775"/>
                </a:solidFill>
              </a:rPr>
              <a:t>Source: Press Information Bureau, 30 June 2026</a:t>
            </a:r>
          </a:p>
        </p:txBody>
      </p:sp>
    </p:spTree>
    <p:extLst>
      <p:ext uri="{BB962C8B-B14F-4D97-AF65-F5344CB8AC3E}">
        <p14:creationId xmlns:p14="http://schemas.microsoft.com/office/powerpoint/2010/main" val="693325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532D8-FFD1-48DD-BA1C-56367451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7F3EB"/>
                </a:solidFill>
              </a:defRPr>
            </a:pPr>
            <a:r>
              <a:rPr sz="3450" b="1">
                <a:solidFill>
                  <a:srgbClr val="F7F3EB"/>
                </a:solidFill>
              </a:rPr>
              <a:t>Help us test the cases that matter.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91C2D-CE93-4DB2-A6EB-69219E2A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7C5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7C5D0"/>
                </a:solidFill>
              </a:defRPr>
            </a:pPr>
            <a:r>
              <a:rPr sz="1125" b="0">
                <a:solidFill>
                  <a:srgbClr val="B7C5D0"/>
                </a:solidFill>
              </a:rPr>
              <a:t>SAHI GST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B7C38-AA79-4878-A46D-EEC35AE4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F7F3EB"/>
                </a:solidFill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F7F3EB"/>
                </a:solidFill>
              </a:defRPr>
            </a:pPr>
            <a:r>
              <a:rPr sz="4125" b="1">
                <a:solidFill>
                  <a:srgbClr val="F7F3EB"/>
                </a:solidFill>
              </a:rPr>
              <a:t>Two practitioners.</a:t>
            </a:r>
          </a:p>
          <a:p xmlns:a="http://schemas.openxmlformats.org/drawingml/2006/main">
            <a:pPr>
              <a:defRPr sz="4125" b="1">
                <a:solidFill>
                  <a:srgbClr val="F7F3EB"/>
                </a:solidFill>
              </a:defRPr>
            </a:pPr>
            <a:r>
              <a:rPr sz="4125" b="1">
                <a:solidFill>
                  <a:srgbClr val="F7F3EB"/>
                </a:solidFill>
              </a:rPr>
              <a:t>Twenty carefully reviewed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68946-57B2-47E4-8167-B6687ACD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7E1EA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7E1EA"/>
                </a:solidFill>
              </a:defRPr>
            </a:pPr>
            <a:r>
              <a:rPr sz="2175" b="0">
                <a:solidFill>
                  <a:srgbClr val="D7E1EA"/>
                </a:solidFill>
              </a:rPr>
              <a:t>Sahi GST</a:t>
            </a:r>
          </a:p>
          <a:p xmlns:a="http://schemas.openxmlformats.org/drawingml/2006/main">
            <a:pPr>
              <a:defRPr sz="2175" b="0">
                <a:solidFill>
                  <a:srgbClr val="D7E1EA"/>
                </a:solidFill>
              </a:defRPr>
            </a:pPr>
            <a:r>
              <a:rPr sz="2175" b="0">
                <a:solidFill>
                  <a:srgbClr val="D7E1EA"/>
                </a:solidFill>
              </a:rPr>
              <a:t>Understand the invoice. Request the right correction.</a:t>
            </a:r>
          </a:p>
        </p:txBody>
      </p:sp>
    </p:spTree>
    <p:extLst>
      <p:ext uri="{BB962C8B-B14F-4D97-AF65-F5344CB8AC3E}">
        <p14:creationId xmlns:p14="http://schemas.microsoft.com/office/powerpoint/2010/main" val="1622851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2026-10-10T15:07:33.1650000Z</dcterms:created>
  <dcterms:modified xsi:type="dcterms:W3CDTF">2026-10-10T15:07:33.1650000Z</dcterms:modified>
</coreProperties>
</file>